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" y="0"/>
            <a:ext cx="12063679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1440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O custo invisível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do desemprego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13232" y="2523744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DDEAF6"/>
                </a:solidFill>
              </a:rPr>
              <a:t>Onde a qualificação digital pode gerar mais impacto no Brasil?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13232" y="3246120"/>
            <a:ext cx="4343400" cy="0"/>
          </a:xfrm>
          <a:prstGeom prst="line">
            <a:avLst/>
          </a:prstGeom>
          <a:noFill/>
          <a:ln w="38100">
            <a:solidFill>
              <a:srgbClr val="2EC4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7D9"/>
                </a:solidFill>
              </a:rPr>
              <a:t>Análise por UF • IPQD Validado • 2025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0" y="960120"/>
            <a:ext cx="1371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8890">
            <a:solidFill>
              <a:srgbClr val="DDE5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960120"/>
            <a:ext cx="73152" cy="9601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16368" y="116128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59,07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525512" y="15270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IPQD médio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961120" y="960120"/>
            <a:ext cx="1371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8890">
            <a:solidFill>
              <a:srgbClr val="DDE5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0" y="960120"/>
            <a:ext cx="73152" cy="9601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62288" y="116128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27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71432" y="15270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UFs avaliadas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315200" y="2240280"/>
            <a:ext cx="1371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8890">
            <a:solidFill>
              <a:srgbClr val="DDE5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0" y="2240280"/>
            <a:ext cx="73152" cy="960120"/>
          </a:xfrm>
          <a:prstGeom prst="rect">
            <a:avLst/>
          </a:prstGeom>
          <a:solidFill>
            <a:srgbClr val="1B75BB"/>
          </a:solidFill>
          <a:ln w="12700">
            <a:solidFill>
              <a:srgbClr val="1B75B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16368" y="244144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6,43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525512" y="280720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Desemprego médio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961120" y="2240280"/>
            <a:ext cx="1371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8890">
            <a:solidFill>
              <a:srgbClr val="DDE5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1120" y="2240280"/>
            <a:ext cx="73152" cy="9601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62288" y="244144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89,48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171432" y="280720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Internet média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315200" y="3794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Projeto de portfólio em dados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315200" y="418795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Python + Power BI + PowerPoint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com metodologia documentada e índice próprio.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IPQD • Qualificação Digital no Brasil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01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Resposta executiva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12064" y="8046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O projeto transforma dados públicos em uma decisão: onde priorizar qualificação digital.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1109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</a:rPr>
              <a:t>A prioridade não está distribuída de forma aleatória.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58368" y="2057400"/>
            <a:ext cx="5394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Ela se concentra principalmente no Nordeste e em parte do Norte, onde vulnerabilidade no mercado de trabalho, menor renda, menor acesso digital e menor dinamismo formal se combinam.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13232" y="365760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8890">
            <a:solidFill>
              <a:srgbClr val="DDE5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3657600"/>
            <a:ext cx="73152" cy="1234440"/>
          </a:xfrm>
          <a:prstGeom prst="rect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85876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12 UFs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23544" y="422452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Prioridade imediata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23544" y="4443984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exigem ação concentrada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743200" y="365760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8890">
            <a:solidFill>
              <a:srgbClr val="DDE5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0" y="3657600"/>
            <a:ext cx="73152" cy="12344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44368" y="385876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8 UFs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953512" y="422452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Atenção estratégica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953512" y="4443984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monitoramento e reforço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4773168" y="365760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8890">
            <a:solidFill>
              <a:srgbClr val="DDE5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73168" y="3657600"/>
            <a:ext cx="73152" cy="12344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74336" y="385876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7 UFs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983480" y="422452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Baixa urgência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983480" y="4443984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menor prioridade relativa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6995160" y="1325880"/>
            <a:ext cx="438912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8890">
            <a:solidFill>
              <a:srgbClr val="DDE5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59752" y="1435608"/>
            <a:ext cx="405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IPQD médio por região</a:t>
            </a:r>
            <a:endParaRPr lang="en-US" sz="1200" dirty="0"/>
          </a:p>
        </p:txBody>
      </p:sp>
      <p:pic>
        <p:nvPicPr>
          <p:cNvPr id="26" name="Image 0" descr="/mnt/data/ppt_assets/regi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4888" y="2139696"/>
            <a:ext cx="4169664" cy="260604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7178040" y="555955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D91"/>
                </a:solidFill>
              </a:rPr>
              <a:t>Leitura-chave: Nordeste = 80,6 | Norte = 66,0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02920" y="647395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IPQD • Qualificação Digital no Brasil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problema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12064" y="8046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Desemprego, renda e acesso digital não atuam isoladamente.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1109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417320"/>
            <a:ext cx="3200400" cy="438912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Desemprego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60120" y="23317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Sem renda estável, a qualificação concorre com urgências básicas.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53312" y="38404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3D91"/>
                </a:solidFill>
              </a:rPr>
              <a:t>6,6 mi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261872" y="42793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desocupados no 1º tri/2026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480560" y="1417320"/>
            <a:ext cx="3200400" cy="438912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Acesso digital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709160" y="23317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A internet já alcança a maioria dos lares, mas a barreira de uso e qualidade ainda importa.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02352" y="38404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C4B6"/>
                </a:solidFill>
              </a:rPr>
              <a:t>93,6%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010912" y="42793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domicílios com internet em 2024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229600" y="1417320"/>
            <a:ext cx="3200400" cy="438912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58200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Mercado formal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458200" y="23317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O saldo formal ajuda a medir dinamismo econômico, mas é usado aqui de forma comparativa.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851392" y="38404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A261"/>
                </a:solidFill>
              </a:rPr>
              <a:t>1,27 mi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759952" y="42793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saldo positivo nacional em 2025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IPQD • Qualificação Digital no Brasil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Metodologia: IPQD Validado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12064" y="8046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O índice foi criado para comparação entre UFs, não para substituir indicadores oficiais.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1109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258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</a:rPr>
              <a:t>IPQD Validado = 4 dimensões normalizadas em escala 0–100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31520" y="2148840"/>
            <a:ext cx="2240280" cy="233172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148840"/>
            <a:ext cx="2240280" cy="109728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5146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30%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Desemprego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32688" y="352044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Taxa de desocupação por UF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66160" y="2148840"/>
            <a:ext cx="2240280" cy="233172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66160" y="2148840"/>
            <a:ext cx="2240280" cy="109728"/>
          </a:xfrm>
          <a:prstGeom prst="rect">
            <a:avLst/>
          </a:prstGeom>
          <a:solidFill>
            <a:srgbClr val="1B75BB"/>
          </a:solidFill>
          <a:ln w="12700">
            <a:solidFill>
              <a:srgbClr val="1B75B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25146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30%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Baixa renda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767328" y="352044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Rendimento médio real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2148840"/>
            <a:ext cx="2240280" cy="233172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2148840"/>
            <a:ext cx="2240280" cy="10972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25146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20%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Baixo acesso digital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601968" y="352044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Percentual de domicílios com internet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235440" y="2148840"/>
            <a:ext cx="2240280" cy="233172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35440" y="2148840"/>
            <a:ext cx="2240280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72600" y="25146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20%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Baixo dinamismo formal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436608" y="352044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Saldo CAGED relativo ao estoque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7240" y="512064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5321808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Decisão metodológica: escolaridade e população foram mantidas como variáveis auxiliares, não como base do ranking principal, para reduzir risco de inconsistência documental.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IPQD • Qualificação Digital no Brasil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Contexto nacional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12064" y="8046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O cenário combina melhora geral com desigualdade territorial.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1109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17320"/>
            <a:ext cx="544068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8890">
            <a:solidFill>
              <a:srgbClr val="DDE5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527048"/>
            <a:ext cx="5111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Mercado de trabalho</a:t>
            </a:r>
            <a:endParaRPr lang="en-US" sz="1200" dirty="0"/>
          </a:p>
        </p:txBody>
      </p:sp>
      <p:pic>
        <p:nvPicPr>
          <p:cNvPr id="9" name="Image 0" descr="/mnt/data/ppt_assets/contexto_desempre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134267"/>
            <a:ext cx="5221224" cy="293693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355080" y="1417320"/>
            <a:ext cx="516636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8890">
            <a:solidFill>
              <a:srgbClr val="DDE5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9672" y="1527048"/>
            <a:ext cx="483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Acesso digital</a:t>
            </a:r>
            <a:endParaRPr lang="en-US" sz="1200" dirty="0"/>
          </a:p>
        </p:txBody>
      </p:sp>
      <p:pic>
        <p:nvPicPr>
          <p:cNvPr id="12" name="Image 1" descr="/mnt/data/ppt_assets/contexto_intern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808" y="2189335"/>
            <a:ext cx="4946904" cy="28268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77240" y="58064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91"/>
                </a:solidFill>
              </a:rPr>
              <a:t>A análise por UF é necessária porque o dado nacional mascara diferenças regionais. O IPQD entra como ferramenta para priorização territorial.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02920" y="647395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IPQD • Qualificação Digital no Brasil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Onde agir primeiro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12064" y="8046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O Top 10 concentra estados com maior combinação de vulnerabilidade e necessidade de qualificação digital.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1109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261872"/>
            <a:ext cx="6583680" cy="480060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8890">
            <a:solidFill>
              <a:srgbClr val="DDE5EF"/>
            </a:solidFill>
            <a:prstDash val="solid"/>
          </a:ln>
        </p:spPr>
      </p:sp>
      <p:pic>
        <p:nvPicPr>
          <p:cNvPr id="8" name="Image 0" descr="/mnt/data/ppt_assets/top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752905"/>
            <a:ext cx="6364224" cy="381853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635240" y="141732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09560" y="1737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Top 5 prioridades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909560" y="2240280"/>
            <a:ext cx="320040" cy="228600"/>
          </a:xfrm>
          <a:prstGeom prst="rect">
            <a:avLst/>
          </a:prstGeom>
          <a:solidFill>
            <a:srgbClr val="0B3D9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321040" y="221284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Maranhão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058400" y="22128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3D91"/>
                </a:solidFill>
              </a:rPr>
              <a:t>88,93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909560" y="2770632"/>
            <a:ext cx="320040" cy="228600"/>
          </a:xfrm>
          <a:prstGeom prst="rect">
            <a:avLst/>
          </a:prstGeom>
          <a:solidFill>
            <a:srgbClr val="0B3D9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321040" y="27432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Piauí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058400" y="27432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3D91"/>
                </a:solidFill>
              </a:rPr>
              <a:t>88,65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909560" y="3300984"/>
            <a:ext cx="320040" cy="228600"/>
          </a:xfrm>
          <a:prstGeom prst="rect">
            <a:avLst/>
          </a:prstGeom>
          <a:solidFill>
            <a:srgbClr val="0B3D9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321040" y="32735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Alagoas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0058400" y="327355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3D91"/>
                </a:solidFill>
              </a:rPr>
              <a:t>87,31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909560" y="3831336"/>
            <a:ext cx="320040" cy="228600"/>
          </a:xfrm>
          <a:prstGeom prst="rect">
            <a:avLst/>
          </a:prstGeom>
          <a:solidFill>
            <a:srgbClr val="0B3D9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321040" y="380390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Amapá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0058400" y="380390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3D91"/>
                </a:solidFill>
              </a:rPr>
              <a:t>85,1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909560" y="4361688"/>
            <a:ext cx="320040" cy="228600"/>
          </a:xfrm>
          <a:prstGeom prst="rect">
            <a:avLst/>
          </a:prstGeom>
          <a:solidFill>
            <a:srgbClr val="0B3D9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321040" y="433425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Pernambuco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0058400" y="433425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3D91"/>
                </a:solidFill>
              </a:rPr>
              <a:t>82,03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909560" y="52120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Mensagem: a priorização mais forte está no Nordeste, com Amapá representando ponto crítico no Norte.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02920" y="647395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IPQD • Qualificação Digital no Brasil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Concentração regional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12064" y="8046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 decisão estratégica é regional: Nordeste lidera a prioridade média e o Norte aparece como segunda frente.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1109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371600"/>
            <a:ext cx="5486400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8890">
            <a:solidFill>
              <a:srgbClr val="DDE5EF"/>
            </a:solidFill>
            <a:prstDash val="solid"/>
          </a:ln>
        </p:spPr>
      </p:sp>
      <p:pic>
        <p:nvPicPr>
          <p:cNvPr id="8" name="Image 0" descr="/mnt/data/ppt_assets/regi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83080"/>
            <a:ext cx="5266944" cy="32918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720840" y="1508760"/>
            <a:ext cx="4343400" cy="1188720"/>
          </a:xfrm>
          <a:prstGeom prst="roundRect">
            <a:avLst>
              <a:gd name="adj" fmla="val 615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40880" y="1783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D91"/>
                </a:solidFill>
              </a:rPr>
              <a:t>Nordeste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509760" y="166420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B3D91"/>
                </a:solidFill>
              </a:rPr>
              <a:t>80,6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040880" y="215798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maior IPQD médio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720840" y="2971800"/>
            <a:ext cx="4343400" cy="1188720"/>
          </a:xfrm>
          <a:prstGeom prst="roundRect">
            <a:avLst>
              <a:gd name="adj" fmla="val 6154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040880" y="3246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9D8F"/>
                </a:solidFill>
              </a:rPr>
              <a:t>Norte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9509760" y="312724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A9D8F"/>
                </a:solidFill>
              </a:rPr>
              <a:t>66,0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7040880" y="362102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segunda frente estratégica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812280" y="4754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Implicação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812280" y="513892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Programas nacionais de qualificação digital devem ser territorializados. Uma estratégia única para todo o Brasil tende a desperdiçar recursos.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02920" y="647395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IPQD • Qualificação Digital no Brasil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explica a prioridade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12064" y="8046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O IPQD cresce quando vulnerabilidade econômica e barreira digital aparecem juntas.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1109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325880"/>
            <a:ext cx="544068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8890">
            <a:solidFill>
              <a:srgbClr val="DDE5EF"/>
            </a:solidFill>
            <a:prstDash val="solid"/>
          </a:ln>
        </p:spPr>
      </p:sp>
      <p:pic>
        <p:nvPicPr>
          <p:cNvPr id="8" name="Image 0" descr="/mnt/data/ppt_assets/scatter_desemprego_intern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774508"/>
            <a:ext cx="5221224" cy="326326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355080" y="1325880"/>
            <a:ext cx="516636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8890">
            <a:solidFill>
              <a:srgbClr val="DDE5EF"/>
            </a:solidFill>
            <a:prstDash val="solid"/>
          </a:ln>
        </p:spPr>
      </p:sp>
      <p:pic>
        <p:nvPicPr>
          <p:cNvPr id="10" name="Image 1" descr="/mnt/data/ppt_assets/scatter_renda_ipq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808" y="1860232"/>
            <a:ext cx="4946904" cy="309181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2960" y="5806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91"/>
                </a:solidFill>
              </a:rPr>
              <a:t>Estados prioritários combinam maior pressão do mercado de trabalho com renda menor e acesso digital menos robusto.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02920" y="647395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IPQD • Qualificação Digital no Brasil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Recomendação estratégica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12064" y="8046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Transformar o ranking em ações: foco, tipo de curso e estratégia de entrega.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1109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417320"/>
            <a:ext cx="106984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17320"/>
            <a:ext cx="109728" cy="1170432"/>
          </a:xfrm>
          <a:prstGeom prst="rect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5819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Prioridade imediata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886200" y="15819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1495B"/>
                </a:solidFill>
              </a:rPr>
              <a:t>12 UFs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24128" y="1947672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Cursos curtos, gratuitos, com trilhas de empregabilidade e suporte presencial/híbrido.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406640" y="18562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Maranhão, Piauí, Alagoas, Amapá, Pernambuco...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926080"/>
            <a:ext cx="106984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926080"/>
            <a:ext cx="109728" cy="11704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30906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Atenção estratégica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886200" y="30906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4A261"/>
                </a:solidFill>
              </a:rPr>
              <a:t>8 UFs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24128" y="3456432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Programas de transição profissional, reforço de habilidades digitais básicas e parcerias locais.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406640" y="33649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Estados intermediários com risco social e potencial de resposta.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4434840"/>
            <a:ext cx="106984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434840"/>
            <a:ext cx="109728" cy="11704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" y="45994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Baixa urgência relativa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886200" y="45994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A9D8F"/>
                </a:solidFill>
              </a:rPr>
              <a:t>7 UFs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24128" y="4965192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Foco em especialização, produtividade e migração para ocupações digitais de maior valor.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406640" y="48737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Estados com melhores indicadores relativos.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5989320"/>
            <a:ext cx="10698480" cy="384048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6099048"/>
            <a:ext cx="10332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3D91"/>
                </a:solidFill>
              </a:rPr>
              <a:t>Direção prática: começar pelos estados de prioridade imediata, com métricas de adesão, conclusão e recolocação acompanhadas por UF.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IPQD • Qualificação Digital no Brasil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Defesa metodológica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12064" y="8046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O projeto documenta limitações em vez de escondê-las.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1109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325880"/>
            <a:ext cx="539496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8890">
            <a:solidFill>
              <a:srgbClr val="DDE5EF"/>
            </a:solidFill>
            <a:prstDash val="solid"/>
          </a:ln>
        </p:spPr>
      </p:sp>
      <p:pic>
        <p:nvPicPr>
          <p:cNvPr id="8" name="Image 0" descr="/mnt/data/ppt_assets/composicao_top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968500"/>
            <a:ext cx="5175504" cy="28752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0" y="1371600"/>
            <a:ext cx="47548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20840" y="1691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Pontos de controle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720840" y="2304288"/>
            <a:ext cx="82296" cy="82296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85432" y="2240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</a:rPr>
              <a:t>CAGED usado como comparação relativa entre UFs, não como fechamento contábil nacional.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720840" y="2944368"/>
            <a:ext cx="82296" cy="82296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85432" y="2880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</a:rPr>
              <a:t>Escolaridade e população mantidas como variáveis auxiliares de contexto.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720840" y="3584448"/>
            <a:ext cx="82296" cy="82296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85432" y="3520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</a:rPr>
              <a:t>IPQD Validado recalculado com variáveis de maior rastreabilidade.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720840" y="4224528"/>
            <a:ext cx="82296" cy="82296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85432" y="4160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</a:rPr>
              <a:t>Bases públicas podem sofrer revisões e pequenas variações entre divulgações oficiais.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720840" y="491947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91"/>
                </a:solidFill>
              </a:rPr>
              <a:t>Conclusão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720840" y="52303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O índice é uma ferramenta analítica comparativa para priorização territorial de políticas de qualificação digital.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02920" y="647395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IPQD • Qualificação Digital no Brasil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Fontes e entregáveis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12064" y="8046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Material preparado para dashboard, apresentação e portfólio.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1109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173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Fontes utilizadas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2029968"/>
            <a:ext cx="82296" cy="82296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965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</a:rPr>
              <a:t>IBGE / PNAD Contínua — desemprego, internet, educação e rendimento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2505456"/>
            <a:ext cx="82296" cy="82296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4414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</a:rPr>
              <a:t>IBGE — estimativas populacionais por UF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2980944"/>
            <a:ext cx="82296" cy="82296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91693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</a:rPr>
              <a:t>Ministério do Trabalho e Emprego / Novo CAGED — admissões, desligamentos, saldo e estoque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3456432"/>
            <a:ext cx="82296" cy="82296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339242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</a:rPr>
              <a:t>IPEA / Carta de Conjuntura — contexto de rendimento e mercado de trabalho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3931920"/>
            <a:ext cx="82296" cy="82296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38679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</a:rPr>
              <a:t>Base consolidada metodológica — IPQD Validado por UF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7960" y="14173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Entregáveis do projeto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583680" y="1965960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20848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91"/>
                </a:solidFill>
              </a:rPr>
              <a:t>Base tratada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12480" y="2084832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CSV/XLSX prontos para Power BI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583680" y="2715768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8346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91"/>
                </a:solidFill>
              </a:rPr>
              <a:t>Dashboard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12480" y="283464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Visão executiva, diagnóstico e metodologia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83680" y="3465576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12280" y="358444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91"/>
                </a:solidFill>
              </a:rPr>
              <a:t>Apresentação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12480" y="358444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Narrativa de problema → evidência → decisão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583680" y="4215384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12280" y="433425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91"/>
                </a:solidFill>
              </a:rPr>
              <a:t>Portfólio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412480" y="4334256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README com metodologia e limitações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77240" y="5833872"/>
            <a:ext cx="10332720" cy="502920"/>
          </a:xfrm>
          <a:prstGeom prst="roundRect">
            <a:avLst>
              <a:gd name="adj" fmla="val 1090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5840" y="5989320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Mensagem final: qualificação digital deve ser guiada por evidência territorial, não distribuída de forma genérica.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02920" y="647395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IPQD • Qualificação Digital no Brasil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Projeto de Portfólio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 custo invisível do desemprego</dc:title>
  <dc:subject>IPQD — Índice de Prioridade para Qualificação Digital</dc:subject>
  <dc:creator>Luiggy Alberto</dc:creator>
  <cp:lastModifiedBy>Luiggy Alberto</cp:lastModifiedBy>
  <cp:revision>1</cp:revision>
  <dcterms:created xsi:type="dcterms:W3CDTF">2026-07-01T03:34:06Z</dcterms:created>
  <dcterms:modified xsi:type="dcterms:W3CDTF">2026-07-01T03:34:06Z</dcterms:modified>
</cp:coreProperties>
</file>